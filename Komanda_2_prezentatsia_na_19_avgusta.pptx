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7" r:id="rId2"/>
    <p:sldId id="267" r:id="rId3"/>
    <p:sldId id="258" r:id="rId4"/>
    <p:sldId id="281" r:id="rId5"/>
    <p:sldId id="266" r:id="rId6"/>
    <p:sldId id="259" r:id="rId7"/>
    <p:sldId id="283" r:id="rId8"/>
    <p:sldId id="284" r:id="rId9"/>
    <p:sldId id="285" r:id="rId10"/>
    <p:sldId id="279" r:id="rId11"/>
    <p:sldId id="280" r:id="rId12"/>
    <p:sldId id="282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9FC"/>
    <a:srgbClr val="116DB5"/>
    <a:srgbClr val="0A2E4B"/>
    <a:srgbClr val="2EB5E9"/>
    <a:srgbClr val="092138"/>
    <a:srgbClr val="F6FAFD"/>
    <a:srgbClr val="819A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05"/>
    <p:restoredTop sz="94832"/>
  </p:normalViewPr>
  <p:slideViewPr>
    <p:cSldViewPr snapToGrid="0">
      <p:cViewPr varScale="1">
        <p:scale>
          <a:sx n="108" d="100"/>
          <a:sy n="108" d="100"/>
        </p:scale>
        <p:origin x="224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87BBF2-3BCB-A04C-AACD-03F10363542D}" type="datetimeFigureOut">
              <a:rPr lang="ru-RU" smtClean="0"/>
              <a:t>19.08.2026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D1F864-FD53-3647-BBC4-94AA65F89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0683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D1F864-FD53-3647-BBC4-94AA65F895A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8129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семантика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D1F864-FD53-3647-BBC4-94AA65F895A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12201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FABF0-71F5-B682-C5CE-D7A683878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A420301-C932-0D96-0D97-A430F7A2F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3468962-2A02-176B-ADB1-9C1770337C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3D2A005-872A-92B8-462F-1E0101B703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D1F864-FD53-3647-BBC4-94AA65F895A7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8331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0CDE94-6CD2-9F4D-EAB4-3D100425B2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5741F40-6E77-FD30-E14A-D7B9EDBB3D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B5B11C-3C4E-52B6-5AE3-818551C95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6C585-2E6F-AD4D-AEE0-C0CC91A9A910}" type="datetimeFigureOut">
              <a:rPr lang="ru-RU" smtClean="0"/>
              <a:t>19.08.2026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8825AC-47AB-1811-FCD8-712C039BE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FA2D60-C45E-E310-1182-704D05A19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DB967-44A3-6C4E-9D3C-37C10C2763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4142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8D8AC0-40E8-C084-682B-40BB23423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9874F2-80F5-E674-27D7-83C6E9809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5141AB5-3683-5923-56DE-727C426CD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6C585-2E6F-AD4D-AEE0-C0CC91A9A910}" type="datetimeFigureOut">
              <a:rPr lang="ru-RU" smtClean="0"/>
              <a:t>19.08.2026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9117175-720A-7DF8-9FF4-B9819C9E0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C60573-C93F-77C5-8812-60FEEC001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DB967-44A3-6C4E-9D3C-37C10C2763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4250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B42579-1F83-32D7-DA39-E7C3DBF85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D65CC32-2112-D253-BAD1-E730DC8F6A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AFCE63-A3D6-9F1A-FB49-495561242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6C585-2E6F-AD4D-AEE0-C0CC91A9A910}" type="datetimeFigureOut">
              <a:rPr lang="ru-RU" smtClean="0"/>
              <a:t>19.08.2026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CE4282-3E43-6E78-DC80-4DE8FEFFA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15D880F-FB50-68F7-4960-53DF636AF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DB967-44A3-6C4E-9D3C-37C10C2763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6857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551CE2-05CB-4D2A-0D52-F86FB16F9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E7D635-CEBD-F7E0-840A-C63604C29F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E3C1A26-20AE-636E-252D-819E3F464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DFB00C6-152A-6A3E-05CB-259CF2C8B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6C585-2E6F-AD4D-AEE0-C0CC91A9A910}" type="datetimeFigureOut">
              <a:rPr lang="ru-RU" smtClean="0"/>
              <a:t>19.08.2026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8018ACA-FC31-2C0D-56C6-DF9FF61C1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E35DE2B-D92E-BFEC-BE96-DDF2CC1C4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DB967-44A3-6C4E-9D3C-37C10C2763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8045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1D1CA5-9B86-45CF-0D3B-E06B3FF11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042D547-CBA0-22F4-A7D5-95232425E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1D4C65F-C75C-8116-6C71-8C19D579E3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F32E916-76FD-63B4-C9E9-5A9F6C124D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F4D3FE6-01B3-F059-6CA3-29F9BAC33D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60F8003-6DFF-313B-1B78-2560DFAEB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6C585-2E6F-AD4D-AEE0-C0CC91A9A910}" type="datetimeFigureOut">
              <a:rPr lang="ru-RU" smtClean="0"/>
              <a:t>19.08.2026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D5F5FB5-34D2-AE62-C28F-A0078D873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8290F53-676A-18C6-E510-F2BB9B5C5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DB967-44A3-6C4E-9D3C-37C10C2763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8652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0810A9-DB18-1502-5BEA-EDA0046A4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2654CC7-CF61-B521-D275-5F682CBC3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6C585-2E6F-AD4D-AEE0-C0CC91A9A910}" type="datetimeFigureOut">
              <a:rPr lang="ru-RU" smtClean="0"/>
              <a:t>19.08.2026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A7B5855-FC7A-A8AA-B99A-45E89AB00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B03464E-7EB6-0725-D35C-A961DB0A3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DB967-44A3-6C4E-9D3C-37C10C2763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1677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95BCFE7-9BCE-C1AF-6C26-AB8F2E66A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6C585-2E6F-AD4D-AEE0-C0CC91A9A910}" type="datetimeFigureOut">
              <a:rPr lang="ru-RU" smtClean="0"/>
              <a:t>19.08.2026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4634C12-5B46-2851-44F2-F9B7C6798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11C358-A94F-4DB3-B533-7CF454F25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DB967-44A3-6C4E-9D3C-37C10C2763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0341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5D4B02-1C1D-FEF7-231F-9A42296BD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ADF9E2-FC93-76D7-70BB-51C55224A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D3114BB-A340-7247-C130-A1F8BCBA9B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DD38484-C256-2974-D9DA-6653EA8E7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6C585-2E6F-AD4D-AEE0-C0CC91A9A910}" type="datetimeFigureOut">
              <a:rPr lang="ru-RU" smtClean="0"/>
              <a:t>19.08.2026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92A4712-D46B-54D1-63B1-91DBA469C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A2CBA0E-035A-7C42-0055-8E26AB5B7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DB967-44A3-6C4E-9D3C-37C10C2763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5258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083239-36FC-14C6-7973-70B3C39E2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81D5F8A-C353-F1AF-9ECD-1F35159026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1A28A83-6EC5-AE55-0C6F-883B0835F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428B137-E713-A57D-5BB6-20FC2D72F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6C585-2E6F-AD4D-AEE0-C0CC91A9A910}" type="datetimeFigureOut">
              <a:rPr lang="ru-RU" smtClean="0"/>
              <a:t>19.08.2026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1E2A04B-55BD-7F9A-337A-F1CAF1089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C81EC07-BC42-5E35-F953-AD4D342DB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DB967-44A3-6C4E-9D3C-37C10C2763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7223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19F6A5-F210-CF62-75A2-30B5DB7FF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0FAFE8E-CA97-7967-0EBA-7A41913733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1F2487-C6FC-B3D1-7B8E-4CE625372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6C585-2E6F-AD4D-AEE0-C0CC91A9A910}" type="datetimeFigureOut">
              <a:rPr lang="ru-RU" smtClean="0"/>
              <a:t>19.08.2026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3E8105-53CD-5A55-4D7D-09CD35935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E07996-8F28-1318-E3A9-1A33EE311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DB967-44A3-6C4E-9D3C-37C10C2763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9714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EED7FEA-5394-3593-9685-08C85E4FB4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994D7B2-A997-7ED8-587E-88EFF98989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3E01334-4830-E8B4-C664-46E569499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6C585-2E6F-AD4D-AEE0-C0CC91A9A910}" type="datetimeFigureOut">
              <a:rPr lang="ru-RU" smtClean="0"/>
              <a:t>19.08.2026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BCE41E-A41E-2FF2-27BC-0E0A6B2BD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40B72C-6DB1-7170-71F1-B4D60BB59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DB967-44A3-6C4E-9D3C-37C10C2763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523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34E43D-EE20-C084-B187-5C4D2720E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715035E-9990-5F01-BAC9-B05FBA2BB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0CFC64-E1F7-76B2-9A62-901CC946A8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6C585-2E6F-AD4D-AEE0-C0CC91A9A910}" type="datetimeFigureOut">
              <a:rPr lang="ru-RU" smtClean="0"/>
              <a:t>19.08.2026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2E9FD2-518E-63D4-48A1-F14949819C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409437-1E95-EC5E-A642-C63031C56F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9DB967-44A3-6C4E-9D3C-37C10C2763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5263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E6AF173-4937-71D3-003C-995F8537F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6875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829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2BDBD4-DA0D-6D07-230D-DC74F3879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BC081B-7867-6E80-21D5-AABA003C8847}"/>
              </a:ext>
            </a:extLst>
          </p:cNvPr>
          <p:cNvSpPr txBox="1"/>
          <p:nvPr/>
        </p:nvSpPr>
        <p:spPr>
          <a:xfrm>
            <a:off x="140677" y="6443004"/>
            <a:ext cx="24055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ГАЗПРОМ НЕФТЬ - ПРОСТОР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1C2F7A-AF77-BC7B-F07E-C2D67BBCE305}"/>
              </a:ext>
            </a:extLst>
          </p:cNvPr>
          <p:cNvSpPr txBox="1"/>
          <p:nvPr/>
        </p:nvSpPr>
        <p:spPr>
          <a:xfrm>
            <a:off x="9645748" y="6443003"/>
            <a:ext cx="24055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A06C2E-EC04-B5FE-9F42-F65E581E9DF6}"/>
              </a:ext>
            </a:extLst>
          </p:cNvPr>
          <p:cNvSpPr txBox="1"/>
          <p:nvPr/>
        </p:nvSpPr>
        <p:spPr>
          <a:xfrm>
            <a:off x="511126" y="168775"/>
            <a:ext cx="523552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500" b="1" dirty="0">
                <a:solidFill>
                  <a:srgbClr val="116DB5"/>
                </a:solidFill>
                <a:latin typeface="Aptos" panose="020B0004020202020204" pitchFamily="34" charset="0"/>
              </a:rPr>
              <a:t>ДЕРЕВО ТРЕБОВАНИЙ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BA03210A-E281-656A-488D-B6D62F377B65}"/>
              </a:ext>
            </a:extLst>
          </p:cNvPr>
          <p:cNvSpPr/>
          <p:nvPr/>
        </p:nvSpPr>
        <p:spPr>
          <a:xfrm>
            <a:off x="365022" y="331345"/>
            <a:ext cx="146104" cy="1519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43EFA42-7A39-7E71-93A1-3E862E817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547" y="1043766"/>
            <a:ext cx="10438905" cy="4770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602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7BD6B70-0D92-B3BF-75B0-2A922B042397}"/>
              </a:ext>
            </a:extLst>
          </p:cNvPr>
          <p:cNvSpPr txBox="1"/>
          <p:nvPr/>
        </p:nvSpPr>
        <p:spPr>
          <a:xfrm>
            <a:off x="140677" y="6443004"/>
            <a:ext cx="24055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ГАЗПРОМ НЕФТЬ - ПРОСТОР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235FDF-638C-F7AB-0A9E-9152CA0307AD}"/>
              </a:ext>
            </a:extLst>
          </p:cNvPr>
          <p:cNvSpPr txBox="1"/>
          <p:nvPr/>
        </p:nvSpPr>
        <p:spPr>
          <a:xfrm>
            <a:off x="9645748" y="6443003"/>
            <a:ext cx="24055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98A56D-82A5-3816-931F-154CF0856F42}"/>
              </a:ext>
            </a:extLst>
          </p:cNvPr>
          <p:cNvSpPr txBox="1"/>
          <p:nvPr/>
        </p:nvSpPr>
        <p:spPr>
          <a:xfrm>
            <a:off x="511126" y="168775"/>
            <a:ext cx="817567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500" b="1" dirty="0">
                <a:solidFill>
                  <a:srgbClr val="116DB5"/>
                </a:solidFill>
                <a:latin typeface="Aptos" panose="020B0004020202020204" pitchFamily="34" charset="0"/>
              </a:rPr>
              <a:t>ЦЕЛЕВОЙ ПРОЦЕСС: ФОРМИРОВАНИЕ ЗАЯВКИ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F05CF0DD-F7F6-C4BB-FCBA-348B087A7045}"/>
              </a:ext>
            </a:extLst>
          </p:cNvPr>
          <p:cNvSpPr/>
          <p:nvPr/>
        </p:nvSpPr>
        <p:spPr>
          <a:xfrm>
            <a:off x="365022" y="331345"/>
            <a:ext cx="146104" cy="1519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762EDA6-55C7-67FA-C0E2-6189C4347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292" y="1890220"/>
            <a:ext cx="11223415" cy="307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565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FB46F3-8ED1-CEF4-3F26-C2DFAED31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EC1C65A-FD9D-5940-FBBF-A150556C1C5F}"/>
              </a:ext>
            </a:extLst>
          </p:cNvPr>
          <p:cNvSpPr txBox="1"/>
          <p:nvPr/>
        </p:nvSpPr>
        <p:spPr>
          <a:xfrm>
            <a:off x="140677" y="6443004"/>
            <a:ext cx="24055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ГАЗПРОМ НЕФТЬ - ПРОСТОР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A7341D-DFA7-643D-E116-955FD7233154}"/>
              </a:ext>
            </a:extLst>
          </p:cNvPr>
          <p:cNvSpPr txBox="1"/>
          <p:nvPr/>
        </p:nvSpPr>
        <p:spPr>
          <a:xfrm>
            <a:off x="9645748" y="6443003"/>
            <a:ext cx="24055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A0463A-4329-9DD0-982E-58789CC53F2C}"/>
              </a:ext>
            </a:extLst>
          </p:cNvPr>
          <p:cNvSpPr txBox="1"/>
          <p:nvPr/>
        </p:nvSpPr>
        <p:spPr>
          <a:xfrm>
            <a:off x="511126" y="168775"/>
            <a:ext cx="523552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500" b="1" dirty="0">
                <a:solidFill>
                  <a:srgbClr val="116DB5"/>
                </a:solidFill>
                <a:latin typeface="Aptos" panose="020B0004020202020204" pitchFamily="34" charset="0"/>
              </a:rPr>
              <a:t>ПОДПРОЦЕСС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015E9559-0696-68BA-E083-CA94EDEF7CA3}"/>
              </a:ext>
            </a:extLst>
          </p:cNvPr>
          <p:cNvSpPr/>
          <p:nvPr/>
        </p:nvSpPr>
        <p:spPr>
          <a:xfrm>
            <a:off x="365022" y="331345"/>
            <a:ext cx="146104" cy="1519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4DDC17B-A758-4BEC-7B12-B3047F1A9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96" y="1781658"/>
            <a:ext cx="11211407" cy="3294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953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96FFF8-183A-6612-E480-5789FAFEA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9106F0-E0F5-5EF5-9064-A9918B01A098}"/>
              </a:ext>
            </a:extLst>
          </p:cNvPr>
          <p:cNvSpPr txBox="1"/>
          <p:nvPr/>
        </p:nvSpPr>
        <p:spPr>
          <a:xfrm>
            <a:off x="511126" y="168775"/>
            <a:ext cx="606503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500" b="1" dirty="0">
                <a:solidFill>
                  <a:srgbClr val="116DB5"/>
                </a:solidFill>
                <a:latin typeface="Aptos" panose="020B0004020202020204" pitchFamily="34" charset="0"/>
              </a:rPr>
              <a:t>ДИАГРАММА «СУЩНОСТЬ–СВЯЗЬ»</a:t>
            </a:r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3A54E7B9-4D46-DBD9-CF51-819F7F64A6E5}"/>
              </a:ext>
            </a:extLst>
          </p:cNvPr>
          <p:cNvSpPr/>
          <p:nvPr/>
        </p:nvSpPr>
        <p:spPr>
          <a:xfrm>
            <a:off x="365022" y="331345"/>
            <a:ext cx="146104" cy="1519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626333-BDFB-2AB6-96DE-F1B88EA66A68}"/>
              </a:ext>
            </a:extLst>
          </p:cNvPr>
          <p:cNvSpPr txBox="1"/>
          <p:nvPr/>
        </p:nvSpPr>
        <p:spPr>
          <a:xfrm>
            <a:off x="140677" y="6443004"/>
            <a:ext cx="24055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ГАЗПРОМ НЕФТЬ - ПРОСТОР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5ED556-458A-C627-CE38-7254CCC4922C}"/>
              </a:ext>
            </a:extLst>
          </p:cNvPr>
          <p:cNvSpPr txBox="1"/>
          <p:nvPr/>
        </p:nvSpPr>
        <p:spPr>
          <a:xfrm>
            <a:off x="9645748" y="6443003"/>
            <a:ext cx="24055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6024867-93F9-1DAE-305B-C23A7858A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211" y="1100895"/>
            <a:ext cx="8901578" cy="4656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95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1C8085-6101-6F9E-EE20-894F34447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45728B-07FF-0BDA-F38E-2A2CAB77A396}"/>
              </a:ext>
            </a:extLst>
          </p:cNvPr>
          <p:cNvSpPr txBox="1"/>
          <p:nvPr/>
        </p:nvSpPr>
        <p:spPr>
          <a:xfrm>
            <a:off x="511126" y="153137"/>
            <a:ext cx="931381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500" b="1" dirty="0">
                <a:solidFill>
                  <a:srgbClr val="116DB5"/>
                </a:solidFill>
                <a:latin typeface="Aptos" panose="020B0004020202020204" pitchFamily="34" charset="0"/>
              </a:rPr>
              <a:t>ДИАГРАММА </a:t>
            </a:r>
            <a:r>
              <a:rPr lang="en-US" sz="2500" b="1" dirty="0">
                <a:solidFill>
                  <a:srgbClr val="116DB5"/>
                </a:solidFill>
                <a:latin typeface="Aptos" panose="020B0004020202020204" pitchFamily="34" charset="0"/>
              </a:rPr>
              <a:t>USE CASE</a:t>
            </a:r>
            <a:r>
              <a:rPr lang="ru-RU" sz="2500" b="1" dirty="0">
                <a:solidFill>
                  <a:srgbClr val="116DB5"/>
                </a:solidFill>
                <a:latin typeface="Aptos" panose="020B0004020202020204" pitchFamily="34" charset="0"/>
              </a:rPr>
              <a:t>: ФОРМИРОВАНИЕ ЗАЯВКИ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3B506068-CD03-64A9-E0FE-D7D65C12A119}"/>
              </a:ext>
            </a:extLst>
          </p:cNvPr>
          <p:cNvSpPr/>
          <p:nvPr/>
        </p:nvSpPr>
        <p:spPr>
          <a:xfrm>
            <a:off x="365022" y="331345"/>
            <a:ext cx="146104" cy="1519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1500B9-0DDB-5E18-F189-D5B9BD3466B9}"/>
              </a:ext>
            </a:extLst>
          </p:cNvPr>
          <p:cNvSpPr txBox="1"/>
          <p:nvPr/>
        </p:nvSpPr>
        <p:spPr>
          <a:xfrm>
            <a:off x="140677" y="6443004"/>
            <a:ext cx="24055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ГАЗПРОМ НЕФТЬ - ПРОСТОР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D609AB-5ED3-0FB7-0E7C-BC07DA10239F}"/>
              </a:ext>
            </a:extLst>
          </p:cNvPr>
          <p:cNvSpPr txBox="1"/>
          <p:nvPr/>
        </p:nvSpPr>
        <p:spPr>
          <a:xfrm>
            <a:off x="9645748" y="6443003"/>
            <a:ext cx="24055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6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2766F1F-F7DB-3797-545D-E42BB11F3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253" y="1156240"/>
            <a:ext cx="9548601" cy="4522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940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944FB4-506D-B78E-0538-8B906858C608}"/>
              </a:ext>
            </a:extLst>
          </p:cNvPr>
          <p:cNvSpPr txBox="1"/>
          <p:nvPr/>
        </p:nvSpPr>
        <p:spPr>
          <a:xfrm>
            <a:off x="511126" y="153137"/>
            <a:ext cx="931381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500" b="1" dirty="0">
                <a:solidFill>
                  <a:srgbClr val="116DB5"/>
                </a:solidFill>
                <a:latin typeface="Aptos" panose="020B0004020202020204" pitchFamily="34" charset="0"/>
              </a:rPr>
              <a:t>ОПИСАНИЕ </a:t>
            </a:r>
            <a:r>
              <a:rPr lang="en-US" sz="2500" b="1" dirty="0">
                <a:solidFill>
                  <a:srgbClr val="116DB5"/>
                </a:solidFill>
                <a:latin typeface="Aptos" panose="020B0004020202020204" pitchFamily="34" charset="0"/>
              </a:rPr>
              <a:t>USE CASE</a:t>
            </a:r>
            <a:r>
              <a:rPr lang="ru-RU" sz="2500" b="1" dirty="0">
                <a:solidFill>
                  <a:srgbClr val="116DB5"/>
                </a:solidFill>
                <a:latin typeface="Aptos" panose="020B0004020202020204" pitchFamily="34" charset="0"/>
              </a:rPr>
              <a:t>: ЗАПОЛНЕНИЕ ТЗ</a:t>
            </a: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6F892C3E-501B-BE59-1FE8-0252D93458FF}"/>
              </a:ext>
            </a:extLst>
          </p:cNvPr>
          <p:cNvSpPr/>
          <p:nvPr/>
        </p:nvSpPr>
        <p:spPr>
          <a:xfrm>
            <a:off x="365022" y="331345"/>
            <a:ext cx="146104" cy="1519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F37481-402C-8DE8-FFDD-BEE1FA8E0628}"/>
              </a:ext>
            </a:extLst>
          </p:cNvPr>
          <p:cNvSpPr txBox="1"/>
          <p:nvPr/>
        </p:nvSpPr>
        <p:spPr>
          <a:xfrm>
            <a:off x="140677" y="6443004"/>
            <a:ext cx="24055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ГАЗПРОМ НЕФТЬ - ПРОСТОР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08BD73-67FB-C3E1-120B-72FB794A58E1}"/>
              </a:ext>
            </a:extLst>
          </p:cNvPr>
          <p:cNvSpPr txBox="1"/>
          <p:nvPr/>
        </p:nvSpPr>
        <p:spPr>
          <a:xfrm>
            <a:off x="9645748" y="6443003"/>
            <a:ext cx="24055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1BB6C9-D5AA-4DCC-DF89-AC42859FA70F}"/>
              </a:ext>
            </a:extLst>
          </p:cNvPr>
          <p:cNvSpPr txBox="1"/>
          <p:nvPr/>
        </p:nvSpPr>
        <p:spPr>
          <a:xfrm>
            <a:off x="365022" y="808399"/>
            <a:ext cx="1131585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ru-RU" sz="1800" b="1" i="0" u="none" strike="noStrike" dirty="0">
                <a:solidFill>
                  <a:schemeClr val="tx1"/>
                </a:solidFill>
                <a:effectLst/>
                <a:latin typeface="+mn-lt"/>
              </a:rPr>
              <a:t>Наименование: </a:t>
            </a: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Заполнение ТЗ </a:t>
            </a:r>
            <a:endParaRPr lang="ru-RU" b="0" dirty="0">
              <a:effectLst/>
            </a:endParaRPr>
          </a:p>
          <a:p>
            <a:pPr rtl="0">
              <a:buNone/>
            </a:pPr>
            <a:r>
              <a:rPr lang="ru-RU" sz="1800" b="1" i="0" u="none" strike="noStrike" dirty="0">
                <a:solidFill>
                  <a:schemeClr val="tx1"/>
                </a:solidFill>
                <a:effectLst/>
                <a:latin typeface="+mn-lt"/>
              </a:rPr>
              <a:t>Краткое описание: </a:t>
            </a: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Пользователь заполняет раздел ТЗ; при сохранении раздела система автоматически анализирует ТЗ и обновляет уровень готовности, риски и рекомендации.</a:t>
            </a:r>
            <a:endParaRPr lang="ru-RU" b="0" dirty="0">
              <a:effectLst/>
            </a:endParaRPr>
          </a:p>
          <a:p>
            <a:pPr rtl="0">
              <a:buNone/>
            </a:pPr>
            <a:r>
              <a:rPr lang="ru-RU" sz="1800" b="1" i="0" u="none" strike="noStrike" dirty="0">
                <a:solidFill>
                  <a:schemeClr val="tx1"/>
                </a:solidFill>
                <a:effectLst/>
                <a:latin typeface="+mn-lt"/>
              </a:rPr>
              <a:t>Участники: </a:t>
            </a: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Пользователь</a:t>
            </a:r>
            <a:endParaRPr lang="ru-RU" b="0" dirty="0">
              <a:effectLst/>
            </a:endParaRPr>
          </a:p>
          <a:p>
            <a:pPr rtl="0">
              <a:buNone/>
            </a:pPr>
            <a:r>
              <a:rPr lang="ru-RU" sz="1800" b="1" i="0" u="none" strike="noStrike" dirty="0">
                <a:solidFill>
                  <a:schemeClr val="tx1"/>
                </a:solidFill>
                <a:effectLst/>
                <a:latin typeface="+mn-lt"/>
              </a:rPr>
              <a:t>Предусловие: </a:t>
            </a: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Шапка заявки заполнена, шапка заявки заполнена, пользователь находится на шаге «2. Конструктор ТЗ»</a:t>
            </a:r>
            <a:endParaRPr lang="ru-RU" b="0" dirty="0">
              <a:effectLst/>
            </a:endParaRPr>
          </a:p>
          <a:p>
            <a:pPr rtl="0">
              <a:buNone/>
            </a:pPr>
            <a:r>
              <a:rPr lang="ru-RU" sz="1800" b="1" i="0" u="none" strike="noStrike" dirty="0">
                <a:solidFill>
                  <a:schemeClr val="tx1"/>
                </a:solidFill>
                <a:effectLst/>
                <a:latin typeface="+mn-lt"/>
              </a:rPr>
              <a:t>Постусловие: </a:t>
            </a: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ТЗ заполнено и сохранено, уровень готовности, риски и рекомендации актуализированы</a:t>
            </a:r>
            <a:endParaRPr lang="ru-RU" b="0" dirty="0">
              <a:effectLst/>
            </a:endParaRPr>
          </a:p>
          <a:p>
            <a:pPr rtl="0">
              <a:buNone/>
            </a:pPr>
            <a:r>
              <a:rPr lang="ru-RU" sz="1800" b="1" i="0" u="none" strike="noStrike" dirty="0">
                <a:solidFill>
                  <a:schemeClr val="tx1"/>
                </a:solidFill>
                <a:effectLst/>
                <a:latin typeface="+mn-lt"/>
              </a:rPr>
              <a:t>Триггер: </a:t>
            </a: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Пользователь открывает ТЗ для заполнения</a:t>
            </a:r>
            <a:br>
              <a:rPr lang="ru-RU" b="0" dirty="0">
                <a:effectLst/>
              </a:rPr>
            </a:br>
            <a:endParaRPr lang="ru-RU" b="0" dirty="0">
              <a:effectLst/>
            </a:endParaRPr>
          </a:p>
          <a:p>
            <a:pPr rtl="0">
              <a:buNone/>
            </a:pPr>
            <a:r>
              <a:rPr lang="ru-RU" sz="1800" b="1" i="0" u="none" strike="noStrike" dirty="0">
                <a:solidFill>
                  <a:schemeClr val="tx1"/>
                </a:solidFill>
                <a:effectLst/>
                <a:latin typeface="+mn-lt"/>
              </a:rPr>
              <a:t>Основной поток:</a:t>
            </a:r>
            <a:endParaRPr lang="ru-RU" b="1" dirty="0">
              <a:effectLst/>
            </a:endParaRPr>
          </a:p>
          <a:p>
            <a:pPr rtl="0">
              <a:buNone/>
            </a:pP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1. Пользователь открывает раздел «Конструктор ТЗ»</a:t>
            </a:r>
            <a:endParaRPr lang="ru-RU" b="0" dirty="0">
              <a:effectLst/>
            </a:endParaRPr>
          </a:p>
          <a:p>
            <a:pPr rtl="0">
              <a:buNone/>
            </a:pP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2. Система отображает готовую структуру ТЗ с заполненными полями</a:t>
            </a:r>
            <a:endParaRPr lang="ru-RU" b="0" dirty="0">
              <a:effectLst/>
            </a:endParaRPr>
          </a:p>
          <a:p>
            <a:pPr rtl="0">
              <a:buNone/>
            </a:pP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3. Пользователь проверяет корректность заполнения разделов – всё корректно</a:t>
            </a:r>
            <a:endParaRPr lang="ru-RU" b="0" dirty="0">
              <a:effectLst/>
            </a:endParaRPr>
          </a:p>
          <a:p>
            <a:pPr rtl="0">
              <a:buNone/>
            </a:pP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4. Пользователь переход в раздел “Анализ” и нажимает кнопку “Анализировать”</a:t>
            </a:r>
            <a:endParaRPr lang="ru-RU" b="0" dirty="0">
              <a:effectLst/>
            </a:endParaRPr>
          </a:p>
          <a:p>
            <a:pPr rtl="0">
              <a:buNone/>
            </a:pP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5. Система выводит результаты анализа</a:t>
            </a:r>
            <a:endParaRPr lang="ru-RU" b="0" dirty="0">
              <a:effectLst/>
            </a:endParaRPr>
          </a:p>
          <a:p>
            <a:pPr rtl="0">
              <a:buNone/>
            </a:pP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6. Пользователь просматривает уровень готовности, риски и рекомендации – всё корректно</a:t>
            </a:r>
            <a:endParaRPr lang="ru-RU" b="0" dirty="0">
              <a:effectLst/>
            </a:endParaRPr>
          </a:p>
          <a:p>
            <a:pPr rtl="0">
              <a:buNone/>
            </a:pP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7. Пользователь нажимает кнопку “Сохранить ТЗ”</a:t>
            </a:r>
            <a:endParaRPr lang="ru-RU" b="0" dirty="0">
              <a:effectLst/>
            </a:endParaRPr>
          </a:p>
          <a:p>
            <a:pPr rtl="0">
              <a:buNone/>
            </a:pP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8. Система сохраняет ТЗ со статусом «Черновик» и уведомляет пользователя об успешном сохранении.</a:t>
            </a:r>
            <a:endParaRPr lang="ru-RU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67454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9982B-87A9-2149-FB6B-C1CE7969A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A417F2-FDA1-E37D-669D-B8ACE4740D81}"/>
              </a:ext>
            </a:extLst>
          </p:cNvPr>
          <p:cNvSpPr txBox="1"/>
          <p:nvPr/>
        </p:nvSpPr>
        <p:spPr>
          <a:xfrm>
            <a:off x="511126" y="153137"/>
            <a:ext cx="931381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500" b="1" dirty="0">
                <a:solidFill>
                  <a:srgbClr val="116DB5"/>
                </a:solidFill>
                <a:latin typeface="Aptos" panose="020B0004020202020204" pitchFamily="34" charset="0"/>
              </a:rPr>
              <a:t>ОПИСАНИЕ </a:t>
            </a:r>
            <a:r>
              <a:rPr lang="en-US" sz="2500" b="1" dirty="0">
                <a:solidFill>
                  <a:srgbClr val="116DB5"/>
                </a:solidFill>
                <a:latin typeface="Aptos" panose="020B0004020202020204" pitchFamily="34" charset="0"/>
              </a:rPr>
              <a:t>USE CASE</a:t>
            </a:r>
            <a:r>
              <a:rPr lang="ru-RU" sz="2500" b="1" dirty="0">
                <a:solidFill>
                  <a:srgbClr val="116DB5"/>
                </a:solidFill>
                <a:latin typeface="Aptos" panose="020B0004020202020204" pitchFamily="34" charset="0"/>
              </a:rPr>
              <a:t>: ЗАПОЛНЕНИЕ ТЗ</a:t>
            </a: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F321380E-0954-1610-8649-3769C5B02021}"/>
              </a:ext>
            </a:extLst>
          </p:cNvPr>
          <p:cNvSpPr/>
          <p:nvPr/>
        </p:nvSpPr>
        <p:spPr>
          <a:xfrm>
            <a:off x="365022" y="331345"/>
            <a:ext cx="146104" cy="1519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F39169-C9FB-EB1D-CCBE-41BAB7697EE7}"/>
              </a:ext>
            </a:extLst>
          </p:cNvPr>
          <p:cNvSpPr txBox="1"/>
          <p:nvPr/>
        </p:nvSpPr>
        <p:spPr>
          <a:xfrm>
            <a:off x="140677" y="6443004"/>
            <a:ext cx="24055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ГАЗПРОМ НЕФТЬ - ПРОСТОР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577D31-707D-C654-2DCB-7C1524C43AD5}"/>
              </a:ext>
            </a:extLst>
          </p:cNvPr>
          <p:cNvSpPr txBox="1"/>
          <p:nvPr/>
        </p:nvSpPr>
        <p:spPr>
          <a:xfrm>
            <a:off x="9645748" y="6443003"/>
            <a:ext cx="24055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D58AED-DA10-B010-35C3-ED6A8AF288B5}"/>
              </a:ext>
            </a:extLst>
          </p:cNvPr>
          <p:cNvSpPr txBox="1"/>
          <p:nvPr/>
        </p:nvSpPr>
        <p:spPr>
          <a:xfrm>
            <a:off x="365022" y="808399"/>
            <a:ext cx="1131585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ru-RU" sz="1800" b="1" i="0" u="none" strike="noStrike" dirty="0">
                <a:solidFill>
                  <a:schemeClr val="tx1"/>
                </a:solidFill>
                <a:effectLst/>
                <a:latin typeface="+mn-lt"/>
              </a:rPr>
              <a:t>Альтернативный поток 1. </a:t>
            </a: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Некорректное заполнение разделов ТЗ на шаге 3 основного потока:</a:t>
            </a:r>
            <a:endParaRPr lang="ru-RU" b="0" dirty="0">
              <a:effectLst/>
            </a:endParaRPr>
          </a:p>
          <a:p>
            <a:pPr rtl="0">
              <a:buNone/>
            </a:pP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3a. Пользователь проверяет корректность заполнения разделов – некорректно </a:t>
            </a:r>
            <a:endParaRPr lang="ru-RU" b="0" dirty="0">
              <a:effectLst/>
            </a:endParaRPr>
          </a:p>
          <a:p>
            <a:pPr rtl="0">
              <a:buNone/>
            </a:pP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4a. Пользователь анализирует способ исправления - с помощью ИИ</a:t>
            </a:r>
            <a:endParaRPr lang="ru-RU" b="0" dirty="0">
              <a:effectLst/>
            </a:endParaRPr>
          </a:p>
          <a:p>
            <a:pPr rtl="0">
              <a:buNone/>
            </a:pP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5a. Пользователь для некорректных разделов нажимает кнопку «Заполнить ИИ»</a:t>
            </a:r>
            <a:endParaRPr lang="ru-RU" b="0" dirty="0">
              <a:effectLst/>
            </a:endParaRPr>
          </a:p>
          <a:p>
            <a:pPr rtl="0">
              <a:buNone/>
            </a:pP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Сценарий продолжается с шага 3 основного потока</a:t>
            </a:r>
            <a:br>
              <a:rPr lang="ru-RU" b="0" dirty="0">
                <a:effectLst/>
              </a:rPr>
            </a:br>
            <a:endParaRPr lang="ru-RU" b="0" dirty="0">
              <a:effectLst/>
            </a:endParaRPr>
          </a:p>
          <a:p>
            <a:pPr rtl="0">
              <a:buNone/>
            </a:pPr>
            <a:r>
              <a:rPr lang="ru-RU" sz="1800" b="1" i="0" u="none" strike="noStrike" dirty="0">
                <a:solidFill>
                  <a:schemeClr val="tx1"/>
                </a:solidFill>
                <a:effectLst/>
                <a:latin typeface="+mn-lt"/>
              </a:rPr>
              <a:t>Альтернативный поток 2. </a:t>
            </a: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Недостаточный уровень оценки готовности ТЗ на шаге 6 основного потока:</a:t>
            </a:r>
            <a:endParaRPr lang="ru-RU" b="0" dirty="0">
              <a:effectLst/>
            </a:endParaRPr>
          </a:p>
          <a:p>
            <a:pPr rtl="0">
              <a:buNone/>
            </a:pP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6b. Пользователь просматривает уровень готовности, риски и рекомендации – есть необходимость в доработке</a:t>
            </a:r>
            <a:endParaRPr lang="ru-RU" b="0" dirty="0">
              <a:effectLst/>
            </a:endParaRPr>
          </a:p>
          <a:p>
            <a:pPr rtl="0">
              <a:buNone/>
            </a:pP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7b. Пользователь анализирует способ исправления - с помощью ИИ</a:t>
            </a:r>
            <a:endParaRPr lang="ru-RU" b="0" dirty="0">
              <a:effectLst/>
            </a:endParaRPr>
          </a:p>
          <a:p>
            <a:pPr rtl="0">
              <a:buNone/>
            </a:pP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8b. Пользователь для некорректных разделов нажимает кнопку «Заполнить ИИ»</a:t>
            </a:r>
            <a:endParaRPr lang="ru-RU" b="0" dirty="0">
              <a:effectLst/>
            </a:endParaRPr>
          </a:p>
          <a:p>
            <a:pPr rtl="0">
              <a:buNone/>
            </a:pP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Сценарий продолжается с шага 3 основного потока</a:t>
            </a:r>
            <a:br>
              <a:rPr lang="ru-RU" b="0" dirty="0">
                <a:effectLst/>
              </a:rPr>
            </a:br>
            <a:endParaRPr lang="ru-RU" b="0" dirty="0">
              <a:effectLst/>
            </a:endParaRPr>
          </a:p>
          <a:p>
            <a:pPr rtl="0">
              <a:buNone/>
            </a:pPr>
            <a:r>
              <a:rPr lang="ru-RU" sz="1800" b="1" i="0" u="none" strike="noStrike" dirty="0">
                <a:solidFill>
                  <a:schemeClr val="tx1"/>
                </a:solidFill>
                <a:effectLst/>
                <a:latin typeface="+mn-lt"/>
              </a:rPr>
              <a:t>Альтернативный поток 3. </a:t>
            </a: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Ручная корректировка ТЗ  </a:t>
            </a:r>
            <a:endParaRPr lang="ru-RU" b="0" dirty="0">
              <a:effectLst/>
            </a:endParaRPr>
          </a:p>
          <a:p>
            <a:pPr rtl="0">
              <a:buNone/>
            </a:pP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Данный поток может наступить на шаге 4a или 7b</a:t>
            </a:r>
            <a:endParaRPr lang="ru-RU" b="0" dirty="0">
              <a:effectLst/>
            </a:endParaRPr>
          </a:p>
          <a:p>
            <a:pPr rtl="0">
              <a:buNone/>
            </a:pP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1c. Пользователь вручную исправляет необходимые поля</a:t>
            </a:r>
            <a:endParaRPr lang="ru-RU" b="0" dirty="0">
              <a:effectLst/>
            </a:endParaRPr>
          </a:p>
          <a:p>
            <a:pPr rtl="0">
              <a:buNone/>
            </a:pP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Сценарий продолжается с шага 3 основного потока</a:t>
            </a:r>
            <a:endParaRPr lang="ru-RU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14941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79377-3F8E-1B93-A912-011B8A3F4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7FC6B7-DF2D-6064-CF84-F8D5E85595EB}"/>
              </a:ext>
            </a:extLst>
          </p:cNvPr>
          <p:cNvSpPr txBox="1"/>
          <p:nvPr/>
        </p:nvSpPr>
        <p:spPr>
          <a:xfrm>
            <a:off x="511126" y="153137"/>
            <a:ext cx="931381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500" b="1" dirty="0">
                <a:solidFill>
                  <a:srgbClr val="116DB5"/>
                </a:solidFill>
                <a:latin typeface="Aptos" panose="020B0004020202020204" pitchFamily="34" charset="0"/>
              </a:rPr>
              <a:t>ОПИСАНИЕ </a:t>
            </a:r>
            <a:r>
              <a:rPr lang="en-US" sz="2500" b="1" dirty="0">
                <a:solidFill>
                  <a:srgbClr val="116DB5"/>
                </a:solidFill>
                <a:latin typeface="Aptos" panose="020B0004020202020204" pitchFamily="34" charset="0"/>
              </a:rPr>
              <a:t>USE CASE</a:t>
            </a:r>
            <a:r>
              <a:rPr lang="ru-RU" sz="2500" b="1" dirty="0">
                <a:solidFill>
                  <a:srgbClr val="116DB5"/>
                </a:solidFill>
                <a:latin typeface="Aptos" panose="020B0004020202020204" pitchFamily="34" charset="0"/>
              </a:rPr>
              <a:t>: ЗАПОЛНЕНИЕ ТЗ</a:t>
            </a: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2F4904A3-E41D-D938-BD1A-F8B1FDA55081}"/>
              </a:ext>
            </a:extLst>
          </p:cNvPr>
          <p:cNvSpPr/>
          <p:nvPr/>
        </p:nvSpPr>
        <p:spPr>
          <a:xfrm>
            <a:off x="365022" y="331345"/>
            <a:ext cx="146104" cy="1519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94E26E-468D-0A0E-719D-4722ADAF24C6}"/>
              </a:ext>
            </a:extLst>
          </p:cNvPr>
          <p:cNvSpPr txBox="1"/>
          <p:nvPr/>
        </p:nvSpPr>
        <p:spPr>
          <a:xfrm>
            <a:off x="140677" y="6443004"/>
            <a:ext cx="24055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ГАЗПРОМ НЕФТЬ - ПРОСТОР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581FFA-5ED8-F5EE-CB10-DD3D0292F56A}"/>
              </a:ext>
            </a:extLst>
          </p:cNvPr>
          <p:cNvSpPr txBox="1"/>
          <p:nvPr/>
        </p:nvSpPr>
        <p:spPr>
          <a:xfrm>
            <a:off x="9645748" y="6443003"/>
            <a:ext cx="24055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4B82D1-DB35-EFDD-27AB-88C5E5AC3766}"/>
              </a:ext>
            </a:extLst>
          </p:cNvPr>
          <p:cNvSpPr txBox="1"/>
          <p:nvPr/>
        </p:nvSpPr>
        <p:spPr>
          <a:xfrm>
            <a:off x="365022" y="808399"/>
            <a:ext cx="1131585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ru-RU" sz="1800" b="1" i="0" u="none" strike="noStrike" dirty="0">
                <a:solidFill>
                  <a:schemeClr val="tx1"/>
                </a:solidFill>
                <a:effectLst/>
                <a:latin typeface="+mn-lt"/>
              </a:rPr>
              <a:t>Критерии успешности:</a:t>
            </a:r>
            <a:endParaRPr lang="ru-RU" b="1" dirty="0">
              <a:effectLst/>
            </a:endParaRPr>
          </a:p>
          <a:p>
            <a:pPr rtl="0">
              <a:buNone/>
            </a:pP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1. При открытии «Конструктора ТЗ» система отображает уже заполненную структуру ТЗ по всем разделам</a:t>
            </a:r>
            <a:endParaRPr lang="ru-RU" b="0" dirty="0">
              <a:effectLst/>
            </a:endParaRPr>
          </a:p>
          <a:p>
            <a:pPr rtl="0">
              <a:buNone/>
            </a:pP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2. Пользователь может проверить корректность заполнения каждого раздела ТЗ</a:t>
            </a:r>
            <a:endParaRPr lang="ru-RU" b="0" dirty="0">
              <a:effectLst/>
            </a:endParaRPr>
          </a:p>
          <a:p>
            <a:pPr rtl="0">
              <a:buNone/>
            </a:pP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3. Кнопка «Заполнить ИИ» доступна и позволяет исправить их с помощью ИИ</a:t>
            </a:r>
            <a:endParaRPr lang="ru-RU" b="0" dirty="0">
              <a:effectLst/>
            </a:endParaRPr>
          </a:p>
          <a:p>
            <a:pPr rtl="0">
              <a:buNone/>
            </a:pP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4. Пользователь может внести исправления вручную как альтернативу исправлению через ИИ</a:t>
            </a:r>
            <a:endParaRPr lang="ru-RU" b="0" dirty="0">
              <a:effectLst/>
            </a:endParaRPr>
          </a:p>
          <a:p>
            <a:pPr rtl="0">
              <a:buNone/>
            </a:pP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5. Раздел «Анализ» включает в себя демонстрацию уровня готовности, рисков, рекомендации при нажатии на кнопку «Анализировать»</a:t>
            </a:r>
            <a:endParaRPr lang="ru-RU" b="0" dirty="0">
              <a:effectLst/>
            </a:endParaRPr>
          </a:p>
          <a:p>
            <a:pPr rtl="0">
              <a:buNone/>
            </a:pP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6. Если по результатам анализа выявлена необходимость доработки, пользователь может вернуться к исправлению разделов (через ИИ или вручную) </a:t>
            </a:r>
            <a:endParaRPr lang="ru-RU" b="0" dirty="0">
              <a:effectLst/>
            </a:endParaRPr>
          </a:p>
          <a:p>
            <a:pPr rtl="0">
              <a:buNone/>
            </a:pP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7. Кнопка «Сохранить ТЗ» доступна </a:t>
            </a:r>
            <a:endParaRPr lang="ru-RU" b="0" dirty="0">
              <a:effectLst/>
            </a:endParaRPr>
          </a:p>
          <a:p>
            <a:pPr rtl="0">
              <a:buNone/>
            </a:pP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8. При нажатии «Сохранить ТЗ» система сохраняет ТЗ со статусом «Черновик»</a:t>
            </a:r>
            <a:endParaRPr lang="ru-RU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35182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CD432C-7486-916A-5D1E-10006089A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0F638CE-F58C-B871-E8B7-D567A0BBD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037"/>
            <a:ext cx="12192000" cy="58813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0FBC27-D940-EC4A-7B67-FF1B472A9916}"/>
              </a:ext>
            </a:extLst>
          </p:cNvPr>
          <p:cNvSpPr txBox="1"/>
          <p:nvPr/>
        </p:nvSpPr>
        <p:spPr>
          <a:xfrm>
            <a:off x="511126" y="153137"/>
            <a:ext cx="567673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500" b="1" dirty="0">
                <a:solidFill>
                  <a:srgbClr val="116DB5"/>
                </a:solidFill>
                <a:latin typeface="Aptos" panose="020B0004020202020204" pitchFamily="34" charset="0"/>
              </a:rPr>
              <a:t>АРХИТЕКТУРА СИСТЕМЫ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F2CBFF08-7B01-56B6-55BE-A7BBC1F629EF}"/>
              </a:ext>
            </a:extLst>
          </p:cNvPr>
          <p:cNvSpPr/>
          <p:nvPr/>
        </p:nvSpPr>
        <p:spPr>
          <a:xfrm>
            <a:off x="365022" y="331345"/>
            <a:ext cx="146104" cy="1519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04BDD7-8EAA-62B1-A87C-0A39AA2115DA}"/>
              </a:ext>
            </a:extLst>
          </p:cNvPr>
          <p:cNvSpPr txBox="1"/>
          <p:nvPr/>
        </p:nvSpPr>
        <p:spPr>
          <a:xfrm>
            <a:off x="140677" y="6443004"/>
            <a:ext cx="24055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ГАЗПРОМ НЕФТЬ - ПРОСТОР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9F1D98-9F5C-37A9-EBBF-17D52834B51A}"/>
              </a:ext>
            </a:extLst>
          </p:cNvPr>
          <p:cNvSpPr txBox="1"/>
          <p:nvPr/>
        </p:nvSpPr>
        <p:spPr>
          <a:xfrm>
            <a:off x="9645748" y="6443003"/>
            <a:ext cx="24055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893619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BFA144-06F0-6C68-5DBB-AD6D0865F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A4CCD8-C8BE-F86D-7E18-D46707CB39C3}"/>
              </a:ext>
            </a:extLst>
          </p:cNvPr>
          <p:cNvSpPr txBox="1"/>
          <p:nvPr/>
        </p:nvSpPr>
        <p:spPr>
          <a:xfrm>
            <a:off x="511126" y="153137"/>
            <a:ext cx="567673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500" b="1" dirty="0">
                <a:solidFill>
                  <a:srgbClr val="116DB5"/>
                </a:solidFill>
                <a:latin typeface="Aptos" panose="020B0004020202020204" pitchFamily="34" charset="0"/>
              </a:rPr>
              <a:t>АРХИТЕКТУРА </a:t>
            </a:r>
            <a:r>
              <a:rPr lang="en-US" sz="2500" b="1" dirty="0">
                <a:solidFill>
                  <a:srgbClr val="116DB5"/>
                </a:solidFill>
                <a:latin typeface="Aptos" panose="020B0004020202020204" pitchFamily="34" charset="0"/>
              </a:rPr>
              <a:t>MVP</a:t>
            </a:r>
            <a:endParaRPr lang="ru-RU" sz="2500" b="1" dirty="0">
              <a:solidFill>
                <a:srgbClr val="116DB5"/>
              </a:solidFill>
              <a:latin typeface="Aptos" panose="020B0004020202020204" pitchFamily="34" charset="0"/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64ABB1B2-AAAA-D2A5-EFD1-42C46F611464}"/>
              </a:ext>
            </a:extLst>
          </p:cNvPr>
          <p:cNvSpPr/>
          <p:nvPr/>
        </p:nvSpPr>
        <p:spPr>
          <a:xfrm>
            <a:off x="365022" y="331345"/>
            <a:ext cx="146104" cy="1519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655871-9FE9-B1EB-2162-610306956EEA}"/>
              </a:ext>
            </a:extLst>
          </p:cNvPr>
          <p:cNvSpPr txBox="1"/>
          <p:nvPr/>
        </p:nvSpPr>
        <p:spPr>
          <a:xfrm>
            <a:off x="140677" y="6443004"/>
            <a:ext cx="24055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ГАЗПРОМ НЕФТЬ - ПРОСТОР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36756F-52C4-BF31-091B-4F1F3A8F4CCB}"/>
              </a:ext>
            </a:extLst>
          </p:cNvPr>
          <p:cNvSpPr txBox="1"/>
          <p:nvPr/>
        </p:nvSpPr>
        <p:spPr>
          <a:xfrm>
            <a:off x="9645748" y="6443003"/>
            <a:ext cx="24055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11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74010A-FCAC-068F-CB49-B722BD3E6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031" y="1419289"/>
            <a:ext cx="7969937" cy="40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086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9CC82-DE73-696B-4962-D2BF553CE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466E65D-076E-F356-5BB5-E4417ABC5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6875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08902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1060</TotalTime>
  <Words>530</Words>
  <Application>Microsoft Macintosh PowerPoint</Application>
  <PresentationFormat>Широкоэкранный</PresentationFormat>
  <Paragraphs>72</Paragraphs>
  <Slides>12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Виктория</dc:creator>
  <cp:lastModifiedBy>Виктория</cp:lastModifiedBy>
  <cp:revision>67</cp:revision>
  <dcterms:created xsi:type="dcterms:W3CDTF">2026-08-17T12:01:44Z</dcterms:created>
  <dcterms:modified xsi:type="dcterms:W3CDTF">2026-08-19T06:36:35Z</dcterms:modified>
</cp:coreProperties>
</file>